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70" r:id="rId5"/>
    <p:sldId id="259" r:id="rId6"/>
    <p:sldId id="260" r:id="rId7"/>
    <p:sldId id="261" r:id="rId8"/>
    <p:sldId id="272" r:id="rId9"/>
    <p:sldId id="271" r:id="rId10"/>
    <p:sldId id="264" r:id="rId11"/>
    <p:sldId id="273" r:id="rId12"/>
    <p:sldId id="267" r:id="rId13"/>
    <p:sldId id="27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512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92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92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A5A"/>
          </a:solidFill>
          <a:ln w="12700">
            <a:solidFill>
              <a:srgbClr val="143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BANKING PAYMENTS DATA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Data Engineering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900000">
            <a:off x="8138160" y="-365760"/>
            <a:ext cx="4389120" cy="4389120"/>
          </a:xfrm>
          <a:prstGeom prst="arc">
            <a:avLst/>
          </a:prstGeom>
          <a:solidFill>
            <a:srgbClr val="1D4F77">
              <a:alpha val="75000"/>
            </a:srgbClr>
          </a:solidFill>
          <a:ln w="12700">
            <a:solidFill>
              <a:srgbClr val="1D4F7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8869680" y="2926080"/>
            <a:ext cx="3749040" cy="3749040"/>
          </a:xfrm>
          <a:prstGeom prst="arc">
            <a:avLst/>
          </a:prstGeom>
          <a:solidFill>
            <a:srgbClr val="0F9D8A">
              <a:alpha val="65000"/>
            </a:srgbClr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58368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22376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SENIOR DATA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7040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Real-Time Banking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Payments Data Platform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76656" y="312724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8F1"/>
                </a:solidFill>
              </a:rPr>
              <a:t>Production-style batch + streaming architecture for trusted, governed, analytics-ready payment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54132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Molly Li  |  Senior Data Engineer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579729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9D8"/>
                </a:solidFill>
              </a:rPr>
              <a:t>AWS • Kafka • Spark • Snowflake • dbt • Airflow 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Business Problem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banking-grade pipeline must balance speed, correctness, auditability, and operational control.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AAB6C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17320"/>
            <a:ext cx="73152" cy="15087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2A"/>
                </a:solidFill>
              </a:rPr>
              <a:t>Multiple ingestion patterns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30998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</a:rPr>
              <a:t>Batch client/account/payment files plus real-time payment events had to converge into one governed platform.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AAB6C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15087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563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2A"/>
                </a:solidFill>
              </a:rPr>
              <a:t>Data trust requirements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0288" y="1892808"/>
            <a:ext cx="30998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</a:rPr>
              <a:t>Payments require validation, deduplication, late-event handling, reconciliation, and traceable rejects.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AAB6C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6448" y="1417320"/>
            <a:ext cx="73152" cy="1508760"/>
          </a:xfrm>
          <a:prstGeom prst="rect">
            <a:avLst/>
          </a:prstGeom>
          <a:solidFill>
            <a:srgbClr val="D99B2B"/>
          </a:solidFill>
          <a:ln w="12700">
            <a:solidFill>
              <a:srgbClr val="D99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563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2A"/>
                </a:solidFill>
              </a:rPr>
              <a:t>Production readiness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7616" y="1892808"/>
            <a:ext cx="30998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</a:rPr>
              <a:t>The solution needed orchestration, monitoring, security, environment isolation, infrastructure as code, and CI/CD.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58368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2A"/>
                </a:solidFill>
              </a:rPr>
              <a:t>Project goals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3749040"/>
            <a:ext cx="106984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Build reusable batch and streaming ingestion patterns.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Create a trusted Snowflake data model for analytics and risk use cases.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Automate transformations and dependencies with dbt + Airflow.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Enforce governance through RBAC, masking, auditability, and environment separation.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Deliver reproducible infrastructure, tests, reconciliation, and operational alerts.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WHAT WAS BUILT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</a:rPr>
              <a:t>A production-style payments data platform that ingests payment activity from files, databases, and Kafka, then delivers trusted analytics in Snowflake.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2423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167128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Pipeline 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File batch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3035808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CSV payment, account, and client files land in S3, then Glue/Spark validates and writes curated Parquet.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2057400"/>
            <a:ext cx="2423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2167128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Pipeline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DB incremental batch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25112" y="3035808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PostgreSQL/RDS tables are extracted incrementally using a watermark and merged into warehouse reference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43800" y="2057400"/>
            <a:ext cx="2423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2167128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Pipeline 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Real-time streaming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08392" y="3035808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Kafka payment events are consumed continuously by Spark Structured Streaming with dedupe, watermarking, and current-state logic.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120" y="4800600"/>
            <a:ext cx="10195560" cy="804672"/>
          </a:xfrm>
          <a:prstGeom prst="roundRect">
            <a:avLst>
              <a:gd name="adj" fmla="val 9091"/>
            </a:avLst>
          </a:prstGeom>
          <a:solidFill>
            <a:srgbClr val="E8F8F6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00176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All three pipelines feed Snowflake RAW → dbt STAGING → dbt MARTS, with Airflow orchestration, CI/CD, governance, reconciliation, and monitoring around the platform.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THREE COMPLETED PIPELINES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80360" y="1143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B3A3"/>
                </a:solidFill>
              </a:rPr>
              <a:t>AWS ingestion &amp; processing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1143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Warehouse &amp; transforms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64040" y="1143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Consumption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1828800"/>
            <a:ext cx="5943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48840" y="3017520"/>
            <a:ext cx="5943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2148840" y="4224527"/>
            <a:ext cx="886968" cy="27433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60720" y="1828800"/>
            <a:ext cx="502920" cy="36576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60720" y="3017520"/>
            <a:ext cx="50292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5166360" y="3950208"/>
            <a:ext cx="1159136" cy="301752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15400" y="214884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15400" y="3008376"/>
            <a:ext cx="365760" cy="2743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62104" y="3877056"/>
            <a:ext cx="765944" cy="923543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" y="15544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1664208"/>
            <a:ext cx="101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S3 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files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2852928"/>
            <a:ext cx="101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39776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087368"/>
            <a:ext cx="101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Kafka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events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13716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1481328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Airflow DAG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file batch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70832" y="137160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148132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Glue / Spark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0" y="256032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35808" y="2670048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Airflow DAG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DB incremental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70832" y="25603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267004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JDBC extract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watermark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10128" y="397764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40873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Spark Structured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Streaming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192024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202996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Snowflake RAW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92240" y="274320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285292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dbt STAGING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92240" y="356616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36758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dbt MARTS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601200" y="169164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10928" y="18013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Risk &amp; liquidity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analytics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01200" y="301752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10928" y="312724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Fraud / operations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dashboards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0" y="434340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10928" y="445312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Audit / regulatory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reporting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" y="60899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Airflow owns batch dependencies and schedules. Kafka + Spark own continuous event processing.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 — File batch ingestion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COMPLETED BATCH PIPELINE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Purpose: land scheduled banking files, validate them, separate rejects, and publish clean Parquet for Snowflake loading.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8348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Airflow schedule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starts DAG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S3 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CSV files arrive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Lambda / Glue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Spark job runs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Validate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schema + rules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100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Curated Parquet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good records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Quarantine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bad records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03250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39776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Implemented file-level controls: required columns, data types, valid currency, valid status, positive amount, and referential checks.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458114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4526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Invalid rows are not silently dropped; each reject keeps payload, error code, error detail, and rejection timestamp.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85800" y="51297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50749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Airflow retries and failure alerts make the batch workflow recoverable and observable.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 — Database incremental batch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COMPLETED BATCH PIPELINE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Purpose: load only new and changed customer/account/ledger records from the operational database into Snowflake.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8348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Airflow DAG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daily/hourly batch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RDS / 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source tables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Watermark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updated_at cutoff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S3 landing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incremental extract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100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Snowflake merge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upsert records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dbt models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trusted dimensions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40325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97764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The incremental design avoids reprocessing the full database every run.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" y="458114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52628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The watermark makes loads repeatable, restartable, and easy to audit.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13232" y="512978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749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Reference data from this pipeline enriches payment facts for customer, account, risk, and country-level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3 — Real-time payment streaming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COMPLETED STREAMING PIPELINE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Purpose: process Kafka payment events continuously and maintain the latest state of each payment.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8348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Kafka / MSK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payment events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7744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Spark Structured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Streaming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continuous job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196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Validation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business rules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Dedupe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watermark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event_id + late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100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Curated events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append history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7552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payments_current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latest payment state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02336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EA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224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Streaming validations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45902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Client/account exists, ownership is valid, account active, amount positive, currency and direction valid, status transition valid.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402336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FF1F1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224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Rejected events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37960" y="45902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Bad records are routed to quarantine with raw payload, error_code, error_detail, topic, partition, offset, and rejection timestamp.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Snowflake and dbt analytics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WAREHOUSE + TRANSFORMATION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All three pipelines converge in Snowflake, where dbt turns raw data into tested analytics models.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0116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12140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033"/>
                </a:solidFill>
              </a:rPr>
              <a:t>RAW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25296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Loaded data from S3, DB incremental extracts, Kafka curated events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2377440"/>
            <a:ext cx="8229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17720" y="20116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12140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033"/>
                </a:solidFill>
              </a:rPr>
              <a:t>STAGING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91456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Cleaned and standardized dbt models with source tests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78040" y="2377440"/>
            <a:ext cx="8229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83880" y="20116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12140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033"/>
                </a:solidFill>
              </a:rPr>
              <a:t>MARTS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57616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Business-ready payment, risk, liquidity, and fraud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21538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1605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dbt tests validate not-null keys, accepted values, uniqueness, relationships, and business rules.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76402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70916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dbt lineage explains how sources become staging models, facts, dimensions, and marts.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" y="531266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2578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Snowflake RBAC and masking protect sensitive client and account data.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Airflow orchestration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USED FOR BOTH BATCH PIPELINES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Airflow is the project control plane for scheduled batch workflows. It does not process every Kafka event; it manages dependencies, checks, retries, and alerts.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3A3"/>
                </a:solidFill>
              </a:rPr>
              <a:t>File batch DAG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DB incremental DAG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659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667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sense 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00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trigger Glue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load Snowflake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run dbt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09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06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DQ + reconcile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708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alert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659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5661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663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7665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667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extract DB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watermark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605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02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merge Snowflake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607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run dbt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609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06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DQ + reconcile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611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708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alert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66760" y="3319272"/>
            <a:ext cx="2788920" cy="877824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34930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</a:rPr>
              <a:t>Streaming support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641080" y="38039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</a:rPr>
              <a:t>Airflow checks streaming health and reconciliation; Kafka + Spark process the events.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quality, reconciliation, and idempotency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PRODUCTION CONTROLS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6420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Quality gates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Schema validation, accepted values, referential checks, positive amount checks, and valid status transitions.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5020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Reconciliation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0360" y="3858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Compare source counts, curated counts, rejected counts, Snowflake row counts, and payment totals.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66420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Idempotency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Deduplicate by event_id / payment_id and make reruns safe with checkpoints, watermarks, and merge logic.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5020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Recoverability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858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Retries, checkpoints, quarantine payloads, and alerts make failures traceable and restartable.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9893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It includes the reliability controls expected in a real banking data platform.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BANKING-GRADE DESIGN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09928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IAM + least privilege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16550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Separate roles for Glue, Lambda, Airflow, and Snowflake access.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24328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Snowflake RBAC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5694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Role-based access for raw, staging, mart, and analyst consumers.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538728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Dynamic masking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4838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Sensitive customer/account fields are protected from unauthorized users.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453128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Auditability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43982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Rejected data, load metadata, logs, and lineage support investigation.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1572768"/>
            <a:ext cx="2880360" cy="324612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18105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Protected data domains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23774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Client identity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Account ownership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Payment amount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Counterparty country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Risk status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7183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outcome: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285129" y="5580126"/>
            <a:ext cx="4976667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B3A3"/>
                </a:solidFill>
              </a:rPr>
              <a:t>Any Questions: 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09426" y="1337310"/>
            <a:ext cx="9784080" cy="1403604"/>
          </a:xfrm>
          <a:prstGeom prst="roundRect">
            <a:avLst>
              <a:gd name="adj" fmla="val 7273"/>
            </a:avLst>
          </a:prstGeom>
          <a:solidFill>
            <a:srgbClr val="E8F8F6"/>
          </a:solidFill>
          <a:ln w="15240">
            <a:solidFill>
              <a:srgbClr val="17B3A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95718" y="1456182"/>
            <a:ext cx="8606117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“I built a completed production-style banking payments platform with three end-to-end pipelines: file batch, database incremental batch, and real-time Kafka streaming. Airflow orchestrates the two batch pipelines, while Kafka and Spark Structured Streaming handle continuous event processing.”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B3A3"/>
                </a:solidFill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completed pipelines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9476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1188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Airflow batch DAGs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5508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Snowflake analytics layer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8116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9828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tested + governed design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85546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75488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Strong senior-DE signal: multi-source ingestion, streaming, warehouse modeling, orchestration, IaC, CI/CD, and production controls.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54041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5246034"/>
            <a:ext cx="10332720" cy="45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Best framing: emphasize reliability, recoverability, governance, and business usefulness — not only the tools.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Infrastructure, CI/CD, and monitoring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DELIVERY CONTROLS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8424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Terraform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72033"/>
                </a:solidFill>
              </a:rPr>
              <a:t>repeatable AWS/Snowflake infrastructure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816352" y="2194560"/>
            <a:ext cx="74980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11880" y="18745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98424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GitHub Actions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72033"/>
                </a:solidFill>
              </a:rPr>
              <a:t>lint, tests, dbt checks, deploy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59552" y="2194560"/>
            <a:ext cx="74980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18745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198424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CloudWatch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72033"/>
                </a:solidFill>
              </a:rPr>
              <a:t>logs and job metrics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02752" y="2194560"/>
            <a:ext cx="74980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18745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08008" y="198424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SNS alerts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897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72033"/>
                </a:solidFill>
              </a:rPr>
              <a:t>failure notification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412394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06908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Deployments are version-controlled instead of manual console-only changes.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" y="467258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61772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Automated tests protect dbt models, SQL quality, and pipeline logic before release.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522122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1663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Monitoring captures failures quickly and gives enough context to investigate root cause.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1323</Words>
  <Application>Microsoft Macintosh PowerPoint</Application>
  <PresentationFormat>Widescreen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Banking Payments Data Platform</dc:title>
  <dc:subject>Senior Data Engineering Project</dc:subject>
  <dc:creator>Molly Li</dc:creator>
  <cp:lastModifiedBy>Molly Li</cp:lastModifiedBy>
  <cp:revision>2</cp:revision>
  <dcterms:created xsi:type="dcterms:W3CDTF">2026-08-13T20:13:03Z</dcterms:created>
  <dcterms:modified xsi:type="dcterms:W3CDTF">2026-08-13T20:35:23Z</dcterms:modified>
</cp:coreProperties>
</file>