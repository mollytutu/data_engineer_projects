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86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2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1197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731520"/>
            <a:ext cx="2331720" cy="292608"/>
          </a:xfrm>
          <a:prstGeom prst="roundRect">
            <a:avLst>
              <a:gd name="adj" fmla="val 25000"/>
            </a:avLst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8952" y="800100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COMPLETED END-TO-END PROJECT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Banking Payments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Platform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13232" y="306324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DDE9F0"/>
                </a:solidFill>
              </a:rPr>
              <a:t>Three completed pipelines: file batch, database incremental batch, and real-time Kafka streaming — orchestrated, governed, tested, and monitored.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366760" y="128016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10233C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76488" y="1389888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S3 / Glue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file batch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75520" y="251460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2A2230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85248" y="2624328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RDS / JDBC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incremental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3794760"/>
            <a:ext cx="1417320" cy="749808"/>
          </a:xfrm>
          <a:prstGeom prst="roundRect">
            <a:avLst>
              <a:gd name="adj" fmla="val 9756"/>
            </a:avLst>
          </a:prstGeom>
          <a:solidFill>
            <a:srgbClr val="10233C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56448" y="3904488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Kafka / Spark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streaming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46920" y="507492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201A3B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56648" y="5184648"/>
            <a:ext cx="1380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Snowflake + dbt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analytics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61722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6C5D5"/>
                </a:solidFill>
              </a:rPr>
              <a:t>Qian Li | Senior Data Engineer Portfolio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8229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B3A3"/>
                </a:solidFill>
              </a:rPr>
              <a:t>WHAT WAS BUILT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29844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2033"/>
                </a:solidFill>
              </a:rPr>
              <a:t>A production-style payments data platform that ingests payment activity from files, databases, and Kafka, then delivers trusted analytics in Snowflake.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2423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167128"/>
            <a:ext cx="22037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Pipeline 1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File batch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1832" y="3035808"/>
            <a:ext cx="2084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CSV payment, account, and client files land in S3, then Glue/Spark validates and writes curated Parquet.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60520" y="2057400"/>
            <a:ext cx="2423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0248" y="2167128"/>
            <a:ext cx="22037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Pipeline 2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DB incremental batch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25112" y="3035808"/>
            <a:ext cx="2084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PostgreSQL/RDS tables are extracted incrementally using a watermark and merged into warehouse reference data.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43800" y="2057400"/>
            <a:ext cx="2423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3528" y="2167128"/>
            <a:ext cx="22037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Pipeline 3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Real-time streaming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08392" y="3035808"/>
            <a:ext cx="2084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72033"/>
                </a:solidFill>
              </a:rPr>
              <a:t>Kafka payment events are consumed continuously by Spark Structured Streaming with dedupe, watermarking, and current-state logic.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0120" y="4800600"/>
            <a:ext cx="10195560" cy="804672"/>
          </a:xfrm>
          <a:prstGeom prst="roundRect">
            <a:avLst>
              <a:gd name="adj" fmla="val 9091"/>
            </a:avLst>
          </a:prstGeom>
          <a:solidFill>
            <a:srgbClr val="E8F8F6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500176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</a:rPr>
              <a:t>All three pipelines feed Snowflake RAW → dbt STAGING → dbt MARTS, with Airflow orchestration, CI/CD, governance, reconciliation, and monitoring around the platform.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8229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B3A3"/>
                </a:solidFill>
              </a:rPr>
              <a:t>THREE COMPLETED PIPELINES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Data sources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80360" y="11430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B3A3"/>
                </a:solidFill>
              </a:rPr>
              <a:t>AWS ingestion &amp; processing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55080" y="11430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</a:rPr>
              <a:t>Warehouse &amp; transforms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64040" y="11430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Consumption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48840" y="1828800"/>
            <a:ext cx="5943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48840" y="3017520"/>
            <a:ext cx="5943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148840" y="4251960"/>
            <a:ext cx="5943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760720" y="1828800"/>
            <a:ext cx="502920" cy="36576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60720" y="3017520"/>
            <a:ext cx="50292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5166360" y="4041648"/>
            <a:ext cx="1121624" cy="210312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924544" y="2184466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903228" y="3236976"/>
            <a:ext cx="365760" cy="27432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799616" y="3886200"/>
            <a:ext cx="572984" cy="73152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77240" y="155448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1664208"/>
            <a:ext cx="10149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S3 CSV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files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274320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2852928"/>
            <a:ext cx="10149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PostgreSQL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RDS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3977640"/>
            <a:ext cx="12344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4087368"/>
            <a:ext cx="10149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Kafka / MSK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events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926080" y="137160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35808" y="1481328"/>
            <a:ext cx="1014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Airflow DAG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file batch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70832" y="137160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1481328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Glue / Spark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926080" y="256032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35808" y="2670048"/>
            <a:ext cx="1014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Airflow DAG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DB incremental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70832" y="256032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2670048"/>
            <a:ext cx="1106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JDBC extract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watermark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10128" y="397764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9856" y="408736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Spark Structured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Streaming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92240" y="192024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1968" y="202996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Snowflake RAW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92240" y="274320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01968" y="285292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dbt STAGING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92240" y="356616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01968" y="367588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033"/>
                </a:solidFill>
              </a:rPr>
              <a:t>dbt MARTS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601200" y="169164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10928" y="1801368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Risk &amp; liquidity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analytics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601200" y="301752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10928" y="3127248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Fraud / operations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dashboards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601200" y="434340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10928" y="4453128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Audit / regulatory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reporting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31520" y="60899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033"/>
                </a:solidFill>
              </a:rPr>
              <a:t>Airflow owns batch dependencies and schedules. Kafka + Spark own continuous event processing.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1 — File batch ingestion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8229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B3A3"/>
                </a:solidFill>
              </a:rPr>
              <a:t>COMPLETED BATCH PIPELINE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10424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72033"/>
                </a:solidFill>
              </a:rPr>
              <a:t>Purpose: </a:t>
            </a:r>
            <a:r>
              <a:rPr lang="en-CA" sz="1400" dirty="0"/>
              <a:t>The first pipeline is a batch pipeline because the source system sends payment data as a scheduled file. For example, at the end of the day, the bank may receive a settlement file containing thousands of payment records. Since these records can be processed together instead of immediately, batch processing is a good fit.</a:t>
            </a:r>
            <a:r>
              <a:rPr lang="en-US" sz="1400" b="1" dirty="0">
                <a:solidFill>
                  <a:srgbClr val="172033"/>
                </a:solidFill>
              </a:rPr>
              <a:t>land scheduled banking files, validate them, separate rejects, and publish clean Parquet for Snowflake loading.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3444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0896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8348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73252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292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Airflow schedule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starts DAG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S3 raw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CSV files arrive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5196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Lambda / Glue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Spark job runs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Validate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schema + rules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0100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072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Curated Parquet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good records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7552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8524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Quarantine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bad records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4032504"/>
            <a:ext cx="109728" cy="109728"/>
          </a:xfrm>
          <a:prstGeom prst="ellipse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397764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Implemented file-level controls: required columns, data types, valid currency, valid status, positive amount, and referential checks.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5800" y="4581144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" y="452628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Invalid rows are not silently dropped; each reject keeps payload, error code, error detail, and rejection timestamp.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85800" y="51297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" y="507492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Airflow retries and failure alerts make the batch workflow recoverable and observable.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2 — Database incremental batch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8229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B3A3"/>
                </a:solidFill>
              </a:rPr>
              <a:t>COMPLETED BATCH PIPELINE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Purpose: load only new and changed customer/account/ledger records from the operational database into Snowflake.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444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0896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8348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73252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292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Airflow DAG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daily/hourly batch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RDS / PostgreSQL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source tables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5196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Watermark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updated_at cutoff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S3 landing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incremental extract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0100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072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Snowflake merge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upsert records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875520" y="22402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85248" y="2350008"/>
            <a:ext cx="119786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dbt models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trusted dimensions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" y="40325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97764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The incremental design avoids reprocessing the full database every run.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13232" y="4581144"/>
            <a:ext cx="109728" cy="109728"/>
          </a:xfrm>
          <a:prstGeom prst="ellipse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52628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The watermark makes loads repeatable, restartable, and easy to audit.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13232" y="512978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07492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Reference data from this pipeline enriches payment facts for customer, account, risk, and country-level analysis.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3 — Real-time payment streaming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8229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B3A3"/>
                </a:solidFill>
              </a:rPr>
              <a:t>COMPLETED STREAMING PIPELINE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Purpose: process Kafka payment events continuously and maintain the latest state of each payment.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3444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10896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98348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732520" y="2743200"/>
            <a:ext cx="3657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2920" y="21488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258568"/>
            <a:ext cx="1197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Kafka 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payment events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377440" y="21488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2258568"/>
            <a:ext cx="1197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Spark Structured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Streaming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continuous job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51960" y="21488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2258568"/>
            <a:ext cx="1197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Validation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business rules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21488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2258568"/>
            <a:ext cx="1197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Dedupe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watermark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event_id + late data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01000" y="21488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0728" y="2258568"/>
            <a:ext cx="1197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Curated events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append history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875520" y="214884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85248" y="2258568"/>
            <a:ext cx="119786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payments_current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033"/>
                </a:solidFill>
              </a:rPr>
              <a:t>latest payment state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4023360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EA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2245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Streaming validations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45902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</a:rPr>
              <a:t>Client/account exists, ownership is valid, account active, amount positive, currency and direction valid, status transition valid.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4023360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FFF1F1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422452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Rejected events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37960" y="45902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72033"/>
                </a:solidFill>
              </a:rPr>
              <a:t>Bad records are routed to quarantine with raw payload, error_code, error_detail, topic, partition, offset, and rejection timestamp.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Airflow orchestration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8229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B3A3"/>
                </a:solidFill>
              </a:rPr>
              <a:t>USED FOR BOTH BATCH PIPELINES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Airflow is the project control plane for scheduled batch workflows. It does not process every Kafka event; it manages dependencies, checks, retries, and alerts.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B3A3"/>
                </a:solidFill>
              </a:rPr>
              <a:t>File batch DAG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DB incremental DAG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65960" y="2825496"/>
            <a:ext cx="24688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66160" y="2825496"/>
            <a:ext cx="24688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66360" y="2825496"/>
            <a:ext cx="24688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766560" y="2825496"/>
            <a:ext cx="24688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366760" y="2825496"/>
            <a:ext cx="24688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0120" y="251460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262432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sense file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251460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70048" y="262432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trigger Glue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60520" y="251460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0248" y="262432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load Snowflake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251460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262432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run dbt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60920" y="251460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70648" y="262432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DQ + reconcile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61120" y="251460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70848" y="262432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alert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65960" y="5020056"/>
            <a:ext cx="24688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566160" y="5020056"/>
            <a:ext cx="24688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166360" y="5020056"/>
            <a:ext cx="24688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766560" y="5020056"/>
            <a:ext cx="24688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366760" y="5020056"/>
            <a:ext cx="24688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0120" y="470916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9848" y="481888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extract DB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0" y="470916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0048" y="481888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watermark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60520" y="470916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70248" y="481888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merge Snowflake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760720" y="470916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0448" y="481888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run dbt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60920" y="470916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70648" y="481888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DQ + reconcile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961120" y="4709160"/>
            <a:ext cx="11430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70848" y="4818888"/>
            <a:ext cx="923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2033"/>
                </a:solidFill>
              </a:rPr>
              <a:t>alert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366760" y="3319272"/>
            <a:ext cx="2788920" cy="877824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95360" y="34930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033"/>
                </a:solidFill>
              </a:rPr>
              <a:t>Streaming support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641080" y="38039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033"/>
                </a:solidFill>
              </a:rPr>
              <a:t>Airflow checks streaming health and reconciliation; Kafka + Spark process the events.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Snowflake and dbt analytics layer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8229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B3A3"/>
                </a:solidFill>
              </a:rPr>
              <a:t>WAREHOUSE + TRANSFORMATION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033"/>
                </a:solidFill>
              </a:rPr>
              <a:t>All three pipelines converge in Snowflake, where dbt turns raw data into tested analytics models.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" y="201168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2121408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033"/>
                </a:solidFill>
              </a:rPr>
              <a:t>RAW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25296" y="2971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</a:rPr>
              <a:t>Loaded data from S3, DB incremental extracts, Kafka curated events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11880" y="2377440"/>
            <a:ext cx="8229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17720" y="201168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2121408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033"/>
                </a:solidFill>
              </a:rPr>
              <a:t>STAGING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91456" y="2971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</a:rPr>
              <a:t>Cleaned and standardized dbt models with source tests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78040" y="2377440"/>
            <a:ext cx="82296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83880" y="201168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3608" y="2121408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033"/>
                </a:solidFill>
              </a:rPr>
              <a:t>MARTS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57616" y="2971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</a:rPr>
              <a:t>Business-ready payment, risk, liquidity, and fraud models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215384"/>
            <a:ext cx="109728" cy="109728"/>
          </a:xfrm>
          <a:prstGeom prst="ellipse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416052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dbt tests validate not-null keys, accepted values, uniqueness, relationships, and business rules.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" y="476402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470916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dbt lineage explains how sources become staging models, facts, dimensions, and marts.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2960" y="531266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525780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Snowflake RBAC and masking protect sensitive client and account data.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quality, reconciliation, and idempotency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8229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B3A3"/>
                </a:solidFill>
              </a:rPr>
              <a:t>PRODUCTION CONTROLS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664208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</a:rPr>
              <a:t>Quality gates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80360" y="15727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033"/>
                </a:solidFill>
              </a:rPr>
              <a:t>Schema validation, accepted values, referential checks, positive amount checks, and valid status transitions.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950208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</a:rPr>
              <a:t>Reconciliation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80360" y="38587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033"/>
                </a:solidFill>
              </a:rPr>
              <a:t>Compare source counts, curated counts, rejected counts, Snowflake row counts, and payment totals.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63640" y="15544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664208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</a:rPr>
              <a:t>Idempotency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0" y="15727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033"/>
                </a:solidFill>
              </a:rPr>
              <a:t>Deduplicate by event_id / payment_id and make reruns safe with checkpoints, watermarks, and merge logic.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63640" y="38404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3950208"/>
            <a:ext cx="17007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</a:rPr>
              <a:t>Recoverability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8587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033"/>
                </a:solidFill>
              </a:rPr>
              <a:t>Retries, checkpoints, quarantine payloads, and alerts make failures traceable and restartable.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4400" y="59893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033"/>
                </a:solidFill>
              </a:rPr>
              <a:t>It includes the reliability controls expected in a real banking data platform.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and governance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8229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B3A3"/>
                </a:solidFill>
              </a:rPr>
              <a:t>BANKING-GRADE DESIGN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709928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033"/>
                </a:solidFill>
              </a:rPr>
              <a:t>IAM + least privilege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16550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Separate roles for Glue, Lambda, Airflow, and Snowflake access.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5146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624328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033"/>
                </a:solidFill>
              </a:rPr>
              <a:t>Snowflake RBAC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5694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Role-based access for raw, staging, mart, and analyst consumers.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538728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033"/>
                </a:solidFill>
              </a:rPr>
              <a:t>Dynamic masking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34838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Sensitive customer/account fields are protected from unauthorized users.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3434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453128"/>
            <a:ext cx="21579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033"/>
                </a:solidFill>
              </a:rPr>
              <a:t>Auditability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74720" y="43982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Rejected data, load metadata, logs, and lineage support investigation.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75320" y="1572768"/>
            <a:ext cx="2880360" cy="3246120"/>
          </a:xfrm>
          <a:prstGeom prst="roundRect">
            <a:avLst>
              <a:gd name="adj" fmla="val 254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0768" y="181051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033"/>
                </a:solidFill>
              </a:rPr>
              <a:t>Protected data domains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32520" y="237744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</a:rPr>
              <a:t>Client identity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</a:rPr>
              <a:t>Account ownership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</a:rPr>
              <a:t>Payment amount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</a:rPr>
              <a:t>Counterparty country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2033"/>
                </a:solidFill>
              </a:rPr>
              <a:t>Risk status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Infrastructure, CI/CD, and monitoring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8229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B3A3"/>
                </a:solidFill>
              </a:rPr>
              <a:t>DELIVERY CONTROLS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6510">
            <a:solidFill>
              <a:srgbClr val="17B3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984248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Terraform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788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72033"/>
                </a:solidFill>
              </a:rPr>
              <a:t>repeatable AWS/Snowflake infrastructure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816352" y="2194560"/>
            <a:ext cx="74980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11880" y="187452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1984248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GitHub Actions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2788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72033"/>
                </a:solidFill>
              </a:rPr>
              <a:t>lint, tests, dbt checks, deploy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559552" y="2194560"/>
            <a:ext cx="74980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55080" y="187452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651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4808" y="1984248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CloudWatch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788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72033"/>
                </a:solidFill>
              </a:rPr>
              <a:t>logs and job metrics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302752" y="2194560"/>
            <a:ext cx="749808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98280" y="187452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651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08008" y="1984248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SNS alerts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89720" y="2788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72033"/>
                </a:solidFill>
              </a:rPr>
              <a:t>failure notification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22960" y="4123944"/>
            <a:ext cx="109728" cy="109728"/>
          </a:xfrm>
          <a:prstGeom prst="ellipse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406908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Deployments are version-controlled instead of manual console-only changes.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22960" y="467258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461772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Automated tests protect dbt models, SQL quality, and pipeline logic before release.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22960" y="522122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516636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Monitoring captures failures quickly and gives enough context to investigate root cause.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outcome and presentation talk track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2064" y="82296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B3A3"/>
                </a:solidFill>
              </a:rPr>
              <a:t>WHAT TO SAY IN INTERVIEW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46920" y="3840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</a:rPr>
              <a:t>Banking Payments Data Platform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51560" y="1147572"/>
            <a:ext cx="10360152" cy="1403604"/>
          </a:xfrm>
          <a:prstGeom prst="roundRect">
            <a:avLst>
              <a:gd name="adj" fmla="val 7273"/>
            </a:avLst>
          </a:prstGeom>
          <a:solidFill>
            <a:srgbClr val="E8F8F6"/>
          </a:solidFill>
          <a:ln w="15240">
            <a:solidFill>
              <a:srgbClr val="17B3A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157276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033"/>
                </a:solidFill>
              </a:rPr>
              <a:t>“I built a completed production-style banking payments platform with three end-to-end pipelines: file batch, database incremental batch, and real-time Kafka streaming. Airflow orchestrates the two batch pipelines, while Kafka and Spark Structured Streaming handle continuous event processing.”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3017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7B3A3"/>
                </a:solidFill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68680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033"/>
                </a:solidFill>
              </a:rPr>
              <a:t>completed pipelines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94760" y="3017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611880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033"/>
                </a:solidFill>
              </a:rPr>
              <a:t>Airflow batch DAGs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37960" y="3017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3AED"/>
                </a:solidFill>
              </a:rPr>
              <a:t>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55080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033"/>
                </a:solidFill>
              </a:rPr>
              <a:t>Snowflake analytics layer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281160" y="3017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B82F6"/>
                </a:solidFill>
              </a:rPr>
              <a:t>100%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98280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033"/>
                </a:solidFill>
              </a:rPr>
              <a:t>tested + governed design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4855464"/>
            <a:ext cx="109728" cy="109728"/>
          </a:xfrm>
          <a:prstGeom prst="ellipse">
            <a:avLst/>
          </a:prstGeom>
          <a:solidFill>
            <a:srgbClr val="17B3A3"/>
          </a:solidFill>
          <a:ln w="12700">
            <a:solidFill>
              <a:srgbClr val="17B3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80060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Strong senior-DE signal: multi-source ingestion, streaming, warehouse modeling, orchestration, IaC, CI/CD, and production controls.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" y="54041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534924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</a:rPr>
              <a:t>Best framing: emphasize reliability, recoverability, governance, and business usefulness — not only the tools.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</TotalTime>
  <Words>1263</Words>
  <Application>Microsoft Macintosh PowerPoint</Application>
  <PresentationFormat>Widescreen</PresentationFormat>
  <Paragraphs>233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Qian 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Payments Pipeline Project</dc:title>
  <dc:subject>Completed banking payments data platform project</dc:subject>
  <dc:creator>OpenAI</dc:creator>
  <cp:lastModifiedBy>Molly Li</cp:lastModifiedBy>
  <cp:revision>3</cp:revision>
  <dcterms:created xsi:type="dcterms:W3CDTF">2026-08-13T20:21:24Z</dcterms:created>
  <dcterms:modified xsi:type="dcterms:W3CDTF">2026-08-14T09:21:36Z</dcterms:modified>
</cp:coreProperties>
</file>